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STARS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85800" y="1481328"/>
            <a:ext cx="658368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사전분석 연구 프로토콜: 인지된 스트레스·근로 요인, 이명, 청력 결과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85800" y="265176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2724912"/>
            <a:ext cx="1453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AJA 연구 프로토콜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423160" y="2651760"/>
            <a:ext cx="1691640" cy="310896"/>
          </a:xfrm>
          <a:prstGeom prst="roundRect">
            <a:avLst>
              <a:gd name="adj" fmla="val 17647"/>
            </a:avLst>
          </a:prstGeom>
          <a:solidFill>
            <a:srgbClr val="59A14F"/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96312" y="2724912"/>
            <a:ext cx="1545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KNHANES + NHANES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251960" y="2651760"/>
            <a:ext cx="1920240" cy="310896"/>
          </a:xfrm>
          <a:prstGeom prst="roundRect">
            <a:avLst>
              <a:gd name="adj" fmla="val 17647"/>
            </a:avLst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25112" y="2724912"/>
            <a:ext cx="17739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아직 결과 없음(프로토콜)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543800" y="868680"/>
            <a:ext cx="1417320" cy="1417320"/>
          </a:xfrm>
          <a:prstGeom prst="ellipse">
            <a:avLst/>
          </a:prstGeom>
          <a:solidFill>
            <a:srgbClr val="4E79A7">
              <a:alpha val="88000"/>
            </a:srgbClr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26880" y="2331720"/>
            <a:ext cx="1417320" cy="1417320"/>
          </a:xfrm>
          <a:prstGeom prst="ellipse">
            <a:avLst/>
          </a:prstGeom>
          <a:solidFill>
            <a:srgbClr val="59A14F">
              <a:alpha val="88000"/>
            </a:srgbClr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43800" y="3794760"/>
            <a:ext cx="1417320" cy="1417320"/>
          </a:xfrm>
          <a:prstGeom prst="ellipse">
            <a:avLst/>
          </a:prstGeom>
          <a:solidFill>
            <a:srgbClr val="F28E2B">
              <a:alpha val="88000"/>
            </a:srgbClr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44968" y="1389888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청각학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573768" y="27432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오픈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사이언스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44968" y="42062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임상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안전성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" y="5989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Geunsik Lim · Hyun Jo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초안 v0.9 · 2026년 8월 1일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연구 질문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955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인과관계가 아닌 연관성 규명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STARS | AJA 목표 공개 데이터 논문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1520" y="1143000"/>
            <a:ext cx="1060704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인구집단 데이터와 공개 의료 AI를 활용해 스트레스·이명·난청 사이의 강건하고 임상적으로 유용한 연관성을 규명할 수 있는가?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914400" y="242316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F28E2B">
              <a:alpha val="95000"/>
            </a:srgbClr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6974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스트레스 관련 노출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143000" y="3044952"/>
            <a:ext cx="22860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인지된 스트레스, 근로 변수, 수면, 소음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06240" y="242316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4E79A7">
              <a:alpha val="95000"/>
            </a:srgbClr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0" y="26974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이명 / 청력 결과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434840" y="3044952"/>
            <a:ext cx="22860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순음청력검사, 이명, 청력 곤란, 비대칭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98080" y="242316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59A14F">
              <a:alpha val="95000"/>
            </a:srgbClr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0" y="26974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임상적 실행가능성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726680" y="3044952"/>
            <a:ext cx="22860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안전한 의뢰, 재활, 추적관찰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0" y="3063240"/>
            <a:ext cx="50292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949440" y="3063240"/>
            <a:ext cx="50292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1097280" y="4800600"/>
            <a:ext cx="9875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원칙: 공개 데이터는 연관성과 재현 가능한 벤치마크에, 치료 시기·회복·중재 문제는 전향적 임상 코호트로 규명한다.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데이터셋 선정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955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개발용 KNHANES, 외부검증용 NHANES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STARS | AJA 목표 공개 데이터 논문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31520" y="1143000"/>
            <a:ext cx="10698480" cy="868680"/>
          </a:xfrm>
          <a:prstGeom prst="roundRect">
            <a:avLst>
              <a:gd name="adj" fmla="val 4211"/>
            </a:avLst>
          </a:prstGeom>
          <a:solidFill>
            <a:srgbClr val="EEF6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325880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KNHANES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063240" y="134416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79A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 개발 데이터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49240" y="1307592"/>
            <a:ext cx="56235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한국인 대상, 이명/청력 선행연구, 순음청력 및 건강 공변량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286000"/>
            <a:ext cx="10698480" cy="868680"/>
          </a:xfrm>
          <a:prstGeom prst="roundRect">
            <a:avLst>
              <a:gd name="adj" fmla="val 4211"/>
            </a:avLst>
          </a:prstGeom>
          <a:solidFill>
            <a:srgbClr val="F0FBF3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468880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NHANES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063240" y="248716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A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검증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49240" y="2450592"/>
            <a:ext cx="56235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CDC 자료, 순음청력, 소음 노출, 국가 간 강건성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3429000"/>
            <a:ext cx="10698480" cy="868680"/>
          </a:xfrm>
          <a:prstGeom prst="roundRect">
            <a:avLst>
              <a:gd name="adj" fmla="val 4211"/>
            </a:avLst>
          </a:prstGeom>
          <a:solidFill>
            <a:srgbClr val="FFF7ED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611880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OHHR / OpenNeuro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063240" y="363016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보조 방법 검증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49240" y="3593592"/>
            <a:ext cx="56235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청각학·신경생리 하위연구에 유용, 주 스트레스-결과 분석에는 부적합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4937760"/>
            <a:ext cx="1024128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근거: 직장 스트레스 + 이명 + 순음청력 + 치료 경과를 모두 담은 단일 공개 데이터셋은 없다. KNHANES/NHANES가 가장 강력한 공개 기준선을 제공하며, 치료 시기와 회복은 병원 코호트로 다룬다.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파이프라인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955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데이터에서 임상 확장까지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STARS | AJA 목표 공개 데이터 논문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822960" y="1143000"/>
            <a:ext cx="502920" cy="502920"/>
          </a:xfrm>
          <a:prstGeom prst="ellipse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26187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08760" y="11612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다운로드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11880" y="1197864"/>
            <a:ext cx="7269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KDCA로 KNHANES, CDC로 NHANES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78992" y="1664208"/>
            <a:ext cx="0" cy="347472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22960" y="2011680"/>
            <a:ext cx="502920" cy="502920"/>
          </a:xfrm>
          <a:prstGeom prst="ellipse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213055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508760" y="20299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조화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11880" y="2066544"/>
            <a:ext cx="7269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스트레스·소음·이명·순음청력 매핑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78992" y="2532888"/>
            <a:ext cx="0" cy="347472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22960" y="2880360"/>
            <a:ext cx="502920" cy="502920"/>
          </a:xfrm>
          <a:prstGeom prst="ellipse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" y="299923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508760" y="28986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추정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611880" y="2935224"/>
            <a:ext cx="7269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복합표본 가중 연관성 모형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078992" y="3401568"/>
            <a:ext cx="0" cy="347472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22960" y="3749040"/>
            <a:ext cx="502920" cy="502920"/>
          </a:xfrm>
          <a:prstGeom prst="ellipse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7552" y="386791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508760" y="37673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611880" y="3803904"/>
            <a:ext cx="7269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KNHANES 학습, NHANES 검정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078992" y="4270248"/>
            <a:ext cx="0" cy="347472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22960" y="4617720"/>
            <a:ext cx="502920" cy="502920"/>
          </a:xfrm>
          <a:prstGeom prst="ellipse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7552" y="473659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508760" y="46360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611880" y="4672584"/>
            <a:ext cx="7269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아주대 임상데이터 + 임상의 검증 LLM 추출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의료 AI의 역할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955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MedGemma 등 공개 모델은 임상의 대체가 아닌 연구 가속 도구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STARS | AJA 목표 공개 데이터 논문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77240" y="1097280"/>
            <a:ext cx="1463040" cy="411480"/>
          </a:xfrm>
          <a:prstGeom prst="roundRect">
            <a:avLst>
              <a:gd name="adj" fmla="val 11111"/>
            </a:avLst>
          </a:prstGeom>
          <a:solidFill>
            <a:srgbClr val="59A14F"/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19786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허용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423160" y="1170432"/>
            <a:ext cx="4206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스키마 추출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77240" y="1847088"/>
            <a:ext cx="1463040" cy="411480"/>
          </a:xfrm>
          <a:prstGeom prst="roundRect">
            <a:avLst>
              <a:gd name="adj" fmla="val 11111"/>
            </a:avLst>
          </a:prstGeom>
          <a:solidFill>
            <a:srgbClr val="59A14F"/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94767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허용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23160" y="1920240"/>
            <a:ext cx="4206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연계 설명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77240" y="2596896"/>
            <a:ext cx="1463040" cy="411480"/>
          </a:xfrm>
          <a:prstGeom prst="roundRect">
            <a:avLst>
              <a:gd name="adj" fmla="val 11111"/>
            </a:avLst>
          </a:prstGeom>
          <a:solidFill>
            <a:srgbClr val="59A14F"/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69748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허용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23160" y="2670048"/>
            <a:ext cx="4206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결측 데이터 탐지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77240" y="3346704"/>
            <a:ext cx="1463040" cy="411480"/>
          </a:xfrm>
          <a:prstGeom prst="roundRect">
            <a:avLst>
              <a:gd name="adj" fmla="val 11111"/>
            </a:avLst>
          </a:prstGeom>
          <a:solidFill>
            <a:srgbClr val="E15759"/>
          </a:solidFill>
          <a:ln w="12700">
            <a:solidFill>
              <a:srgbClr val="E1575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34472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금지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423160" y="3419856"/>
            <a:ext cx="4206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진단·스테로이드 권고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77240" y="4096512"/>
            <a:ext cx="1463040" cy="411480"/>
          </a:xfrm>
          <a:prstGeom prst="roundRect">
            <a:avLst>
              <a:gd name="adj" fmla="val 11111"/>
            </a:avLst>
          </a:prstGeom>
          <a:solidFill>
            <a:srgbClr val="E15759"/>
          </a:solidFill>
          <a:ln w="12700">
            <a:solidFill>
              <a:srgbClr val="E1575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419709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금지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423160" y="4169664"/>
            <a:ext cx="4206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응급징후 억제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498080" y="1188720"/>
            <a:ext cx="3154680" cy="3291840"/>
          </a:xfrm>
          <a:prstGeom prst="roundRect">
            <a:avLst>
              <a:gd name="adj" fmla="val 2319"/>
            </a:avLst>
          </a:prstGeom>
          <a:solidFill>
            <a:srgbClr val="F4F7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18120" y="15087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 계층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818120" y="2103120"/>
            <a:ext cx="2560320" cy="2103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임상의 검증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 스키마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버전 관리 프롬프트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검증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공정성·오류 검토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기여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955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청각학계를 위한 신뢰성·강건성·유용성 향상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STARS | AJA 목표 공개 데이터 논문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822960" y="1234440"/>
            <a:ext cx="466344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234440"/>
            <a:ext cx="146304" cy="1508760"/>
          </a:xfrm>
          <a:prstGeom prst="rect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152704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연관성 프레임워크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1965960"/>
            <a:ext cx="39776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스트레스–이명과 스트레스–역치를 구분; 인과 주장 없음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0" y="1234440"/>
            <a:ext cx="466344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234440"/>
            <a:ext cx="146304" cy="1508760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152704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국가 간 검증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37960" y="1965960"/>
            <a:ext cx="39776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KNHANES→NHANES: 보정·재보정·공통지원·공정성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3657600"/>
            <a:ext cx="466344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3657600"/>
            <a:ext cx="146304" cy="1508760"/>
          </a:xfrm>
          <a:prstGeom prst="rect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395020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거버넌스 안전 AI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43000" y="4389120"/>
            <a:ext cx="39776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임상의 검증 추출 + 결정론적 응급징후 우선 대체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17920" y="3657600"/>
            <a:ext cx="466344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3657600"/>
            <a:ext cx="146304" cy="1508760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395020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공개 재현 스캐폴드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37960" y="4389120"/>
            <a:ext cx="39776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매핑·코드·모델카드·안전테스트·합성데이터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협업 계획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955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지금은 공개 데이터 논문, 다음은 임상 검증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STARS | AJA 목표 공개 데이터 논문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2148840" cy="1005840"/>
          </a:xfrm>
          <a:prstGeom prst="chevron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213969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017520" y="1920240"/>
            <a:ext cx="2148840" cy="1005840"/>
          </a:xfrm>
          <a:prstGeom prst="chevron">
            <a:avLst/>
          </a:prstGeom>
          <a:solidFill>
            <a:srgbClr val="59A14F"/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01568" y="213969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임상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코호트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257800" y="1920240"/>
            <a:ext cx="2148840" cy="1005840"/>
          </a:xfrm>
          <a:prstGeom prst="chevron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23560" y="213969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모형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498080" y="1920240"/>
            <a:ext cx="2148840" cy="1005840"/>
          </a:xfrm>
          <a:prstGeom prst="chevron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82128" y="213969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AJA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투고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4114800"/>
            <a:ext cx="1014984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협력 요청: 변수 검증, 청각학 결과지표 정교화, 실현 가능한 임상 데이터 항목 발굴, IRB 제출 전 안전 제약 검토.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목표 및 사전 가설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955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전 고정한 반증 가능한 주장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STARS | AJA 목표 공개 데이터 논문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77240" y="1188720"/>
            <a:ext cx="1234440" cy="868680"/>
          </a:xfrm>
          <a:prstGeom prst="roundRect">
            <a:avLst>
              <a:gd name="adj" fmla="val 6316"/>
            </a:avLst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48132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24028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연관성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240280" y="1645920"/>
            <a:ext cx="8778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보정 후에도 인지된 스트레스는 이명과 연관; 연령·소음 보정 시 스트레스-역치 연관성은 약화된다.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7240" y="2331720"/>
            <a:ext cx="1234440" cy="868680"/>
          </a:xfrm>
          <a:prstGeom prst="roundRect">
            <a:avLst>
              <a:gd name="adj" fmla="val 6316"/>
            </a:avLst>
          </a:prstGeom>
          <a:solidFill>
            <a:srgbClr val="59A14F"/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62432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240280" y="2423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이식성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240280" y="2788920"/>
            <a:ext cx="8778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KNHANES 모형은 NHANES에서 변별력을 유지; 재보정으로 보정도가 회복된다(이명 &gt; 난청 모형).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7240" y="3474720"/>
            <a:ext cx="1234440" cy="868680"/>
          </a:xfrm>
          <a:prstGeom prst="roundRect">
            <a:avLst>
              <a:gd name="adj" fmla="val 6316"/>
            </a:avLst>
          </a:prstGeom>
          <a:solidFill>
            <a:srgbClr val="E15759"/>
          </a:solidFill>
          <a:ln w="12700">
            <a:solidFill>
              <a:srgbClr val="E1575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76732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240280" y="3566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안전·설명가능 AI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240280" y="3931920"/>
            <a:ext cx="8778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스키마 제약 추출은 임상의 검증 정확도가 높고, 응급징후 계층은 거의 완전한 재현율을 달성한다.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77240" y="4617720"/>
            <a:ext cx="1234440" cy="868680"/>
          </a:xfrm>
          <a:prstGeom prst="roundRect">
            <a:avLst>
              <a:gd name="adj" fmla="val 6316"/>
            </a:avLst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91032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2240280" y="4709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홍익 기여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240280" y="5074920"/>
            <a:ext cx="8778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코드·데이터 사전·모델 카드·프롬프트·합성데이터 경로로 전 세계 재사용 장벽을 낮춘다.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엄밀성, 보고, 그리고 치료 골든타임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955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프레임워크를 신뢰할 수 있고 안전하게 만드는 요소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STARS | AJA 목표 공개 데이터 논문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822960" y="1234440"/>
            <a:ext cx="466344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234440"/>
            <a:ext cx="146304" cy="1554480"/>
          </a:xfrm>
          <a:prstGeom prst="rect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147218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사전지정 · DAG 기반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1911096"/>
            <a:ext cx="411480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주기·연령·종말점·지표 고정; 최소충분 보정집합; 매개변수(기분/수면) 별도 모델링.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234440"/>
            <a:ext cx="466344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234440"/>
            <a:ext cx="146304" cy="1554480"/>
          </a:xfrm>
          <a:prstGeom prst="rect">
            <a:avLst/>
          </a:prstGeom>
          <a:solidFill>
            <a:srgbClr val="59A14F"/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147218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AUROC를 넘어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37960" y="1911096"/>
            <a:ext cx="411480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보정(전체·기울기, 재보정 전후), 공통지원, 결정곡선; SHAP 한계 명시.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3657600"/>
            <a:ext cx="466344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3657600"/>
            <a:ext cx="146304" cy="1554480"/>
          </a:xfrm>
          <a:prstGeom prst="rect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389534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연구용 한정 + 공정성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43000" y="4334256"/>
            <a:ext cx="411480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사용목적 명시(선별·진단 아님); SES·인종 포함 하위집단.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0" y="3657600"/>
            <a:ext cx="466344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3657600"/>
            <a:ext cx="146304" cy="1554480"/>
          </a:xfrm>
          <a:prstGeom prst="rect">
            <a:avLst/>
          </a:prstGeom>
          <a:solidFill>
            <a:srgbClr val="E15759"/>
          </a:solidFill>
          <a:ln w="12700">
            <a:solidFill>
              <a:srgbClr val="E1575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389534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골든타임 안전장치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37960" y="4334256"/>
            <a:ext cx="411480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결정론적 응급징후 우선 대체; 2인 전문가 비네트, 민감도 95% CI — 유한집합 1.0 ≠ 무누락 보장.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82296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STARS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822960" y="1600200"/>
            <a:ext cx="987552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이명·난청·스트레스 관련 노출과 안전한 AI 보조 임상 학습을 위한 공개·재현 가능한 청각학 연구.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" y="45262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DEE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단계: 변수 매핑을 확정하고 KNHANES/NHANES 기준선 분석을 실행.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22960" y="56235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EE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Geunsik Lim · leemgs@g.skku.edu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DEE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Hyun Jo · joehyun@ajou.ac.kr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Sungkyunkwan University / Ajou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STARS (한글판)</dc:title>
  <dc:subject>STARS AJA study (Korean)</dc:subject>
  <dc:creator>Geunsik Lim and Hyun Jo</dc:creator>
  <cp:lastModifiedBy>Geunsik Lim and Hyun Jo</cp:lastModifiedBy>
  <cp:revision>1</cp:revision>
  <dcterms:created xsi:type="dcterms:W3CDTF">2026-08-01T10:47:49Z</dcterms:created>
  <dcterms:modified xsi:type="dcterms:W3CDTF">2026-08-01T10:47:49Z</dcterms:modified>
</cp:coreProperties>
</file>