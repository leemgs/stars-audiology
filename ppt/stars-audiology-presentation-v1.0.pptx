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A5F"/>
                </a:solidFill>
              </a:rPr>
              <a:t>STARS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85800" y="1481328"/>
            <a:ext cx="658368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Perceived stress tracks the tinnitus symptom more than the audiometric threshold — a survey-weighted KNHANES study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85800" y="2651760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2724912"/>
            <a:ext cx="1545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AJA research article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514600" y="2651760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59A14F"/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87752" y="2724912"/>
            <a:ext cx="1545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KNHANES + NHANES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343400" y="2651760"/>
            <a:ext cx="1874520" cy="310896"/>
          </a:xfrm>
          <a:prstGeom prst="roundRect">
            <a:avLst>
              <a:gd name="adj" fmla="val 17647"/>
            </a:avLst>
          </a:prstGeom>
          <a:solidFill>
            <a:srgbClr val="59A14F"/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16552" y="2724912"/>
            <a:ext cx="17282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Primary results reported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543800" y="868680"/>
            <a:ext cx="1417320" cy="1417320"/>
          </a:xfrm>
          <a:prstGeom prst="ellipse">
            <a:avLst/>
          </a:prstGeom>
          <a:solidFill>
            <a:srgbClr val="4E79A7">
              <a:alpha val="88000"/>
            </a:srgbClr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26880" y="2331720"/>
            <a:ext cx="1417320" cy="1417320"/>
          </a:xfrm>
          <a:prstGeom prst="ellipse">
            <a:avLst/>
          </a:prstGeom>
          <a:solidFill>
            <a:srgbClr val="59A14F">
              <a:alpha val="88000"/>
            </a:srgbClr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43800" y="3794760"/>
            <a:ext cx="1417320" cy="1417320"/>
          </a:xfrm>
          <a:prstGeom prst="ellipse">
            <a:avLst/>
          </a:prstGeom>
          <a:solidFill>
            <a:srgbClr val="F28E2B">
              <a:alpha val="88000"/>
            </a:srgbClr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44968" y="1389888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Audiology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573768" y="2788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Open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Science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44968" y="42519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Clinical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Safety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" y="5989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Geunsik Lim · Hyun Jo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v1.0 · August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Core research question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955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Association, not unsupported causation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STARS | AJA-targeted public-data manuscript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1060704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F3A5F"/>
                </a:solidFill>
              </a:rPr>
              <a:t>Is perceived stress associated with the tinnitus symptom more than with the audiometric threshold? A prespecified, survey-weighted public-data test.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914400" y="242316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F28E2B">
              <a:alpha val="95000"/>
            </a:srgbClr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6974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Stress-related exposure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43000" y="3044952"/>
            <a:ext cx="22860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perceived stress, work variables, sleep, noise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06240" y="242316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4E79A7">
              <a:alpha val="95000"/>
            </a:srgbClr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0" y="26974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Tinnitus / hearing outcomes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434840" y="3044952"/>
            <a:ext cx="22860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audiometry, tinnitus, hearing difficulty, asymmetry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98080" y="242316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59A14F">
              <a:alpha val="95000"/>
            </a:srgbClr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0" y="26974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Clinical actionability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726680" y="3044952"/>
            <a:ext cx="22860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referral safety, rehabilitation, follow-up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0" y="3063240"/>
            <a:ext cx="50292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949440" y="3063240"/>
            <a:ext cx="50292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1097280" y="4800600"/>
            <a:ext cx="9875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Principle: use public data for associations and reproducible benchmarks; use prospective clinical cohorts for timing, recovery, and intervention questions.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Primary result (real KNHANES data)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955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Adults 40–69 · cycles 2010–2012 · survey-weighted; associations, not causal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STARS | AJA-targeted public-data manuscript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77240" y="123444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EEF6FF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44475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</a:rPr>
              <a:t>Perceived stress → TINNITUS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7830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E79A7"/>
                </a:solidFill>
              </a:rPr>
              <a:t>OR 1.42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005840" y="24688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(95% CI 1.26–1.60, p&lt;0.001)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74320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</a:rPr>
              <a:t>the symptom — significant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123444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FFF7ED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44475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</a:rPr>
              <a:t>Perceived stress → HEARING LOSS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37960" y="17830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8E2B"/>
                </a:solidFill>
              </a:rPr>
              <a:t>OR 1.18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537960" y="24688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(0.99–1.41, p=0.07, ns)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37960" y="274320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</a:rPr>
              <a:t>the audiometric threshold — attenuated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77240" y="3337560"/>
            <a:ext cx="10652760" cy="548640"/>
          </a:xfrm>
          <a:prstGeom prst="roundRect">
            <a:avLst>
              <a:gd name="adj" fmla="val 10000"/>
            </a:avLst>
          </a:prstGeom>
          <a:solidFill>
            <a:srgbClr val="59A14F">
              <a:alpha val="92000"/>
            </a:srgbClr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438144"/>
            <a:ext cx="10287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Symptom-versus-threshold dissociation (hypothesis H1): stress tracks tinnitus, not the threshold, once occupational noise and age are adjusted.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68680" y="4114800"/>
            <a:ext cx="105156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Robust: the tinnitus association persists after adjusting for depressed mood (1.29) and hearing loss (1.44), and for non-bothersome tinnitus (1.24) — evidence against pure reverse causation.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1828800" y="4800600"/>
            <a:ext cx="2468880" cy="777240"/>
          </a:xfrm>
          <a:prstGeom prst="roundRect">
            <a:avLst>
              <a:gd name="adj" fmla="val 7059"/>
            </a:avLst>
          </a:prstGeom>
          <a:solidFill>
            <a:srgbClr val="F4F7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0" y="490118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A5F"/>
                </a:solidFill>
              </a:rPr>
              <a:t>21.1%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828800" y="530352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prevalence: Tinnitus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4800600"/>
            <a:ext cx="2468880" cy="777240"/>
          </a:xfrm>
          <a:prstGeom prst="roundRect">
            <a:avLst>
              <a:gd name="adj" fmla="val 7059"/>
            </a:avLst>
          </a:prstGeom>
          <a:solidFill>
            <a:srgbClr val="F4F7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490118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A5F"/>
                </a:solidFill>
              </a:rPr>
              <a:t>15.4%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663440" y="530352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prevalence: Hearing loss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498080" y="4800600"/>
            <a:ext cx="2468880" cy="777240"/>
          </a:xfrm>
          <a:prstGeom prst="roundRect">
            <a:avLst>
              <a:gd name="adj" fmla="val 7059"/>
            </a:avLst>
          </a:prstGeom>
          <a:solidFill>
            <a:srgbClr val="F4F7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0" y="490118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A5F"/>
                </a:solidFill>
              </a:rPr>
              <a:t>24.3%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498080" y="530352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prevalence: High stress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Dataset decision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955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KNHANES = primary development cohort (has a stress item); NHANES = supporting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STARS | AJA-targeted public-data manuscript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10698480" cy="868680"/>
          </a:xfrm>
          <a:prstGeom prst="roundRect">
            <a:avLst>
              <a:gd name="adj" fmla="val 4211"/>
            </a:avLst>
          </a:prstGeom>
          <a:solidFill>
            <a:srgbClr val="EEF6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32588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</a:rPr>
              <a:t>KNHANES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017520" y="134416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79A7"/>
                </a:solidFill>
              </a:rPr>
              <a:t>Primary development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0" y="1307592"/>
            <a:ext cx="56692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11827"/>
                </a:solidFill>
              </a:rPr>
              <a:t>Korean population, prior tinnitus/hearing research, audiometry and health covariates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731520" y="2286000"/>
            <a:ext cx="10698480" cy="868680"/>
          </a:xfrm>
          <a:prstGeom prst="roundRect">
            <a:avLst>
              <a:gd name="adj" fmla="val 4211"/>
            </a:avLst>
          </a:prstGeom>
          <a:solidFill>
            <a:srgbClr val="F0FBF3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46888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</a:rPr>
              <a:t>NHANES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017520" y="248716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A14F"/>
                </a:solidFill>
              </a:rPr>
              <a:t>External validation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03520" y="2450592"/>
            <a:ext cx="56692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11827"/>
                </a:solidFill>
              </a:rPr>
              <a:t>Public CDC files, audiometry, noise exposure, cross-national robustness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731520" y="3429000"/>
            <a:ext cx="10698480" cy="868680"/>
          </a:xfrm>
          <a:prstGeom prst="roundRect">
            <a:avLst>
              <a:gd name="adj" fmla="val 4211"/>
            </a:avLst>
          </a:prstGeom>
          <a:solidFill>
            <a:srgbClr val="FFF7ED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61188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</a:rPr>
              <a:t>OHHR / OpenNeuro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017520" y="363016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E2B"/>
                </a:solidFill>
              </a:rPr>
              <a:t>Secondary methods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03520" y="3593592"/>
            <a:ext cx="56692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11827"/>
                </a:solidFill>
              </a:rPr>
              <a:t>Useful for audiology or neurophysiology substudy, not main stress-outcome analysis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868680" y="4983480"/>
            <a:ext cx="1024128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3A5F"/>
                </a:solidFill>
              </a:rPr>
              <a:t>Reasoning: no single public dataset fully captures workplace stress + tinnitus + audiometry + treatment course. KNHANES/NHANES give the strongest public baseline; hospital cohorts handle treatment timing and recovery.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Analysis pipeline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955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From public data to clinical extension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STARS | AJA-targeted public-data manuscript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822960" y="1143000"/>
            <a:ext cx="502920" cy="502920"/>
          </a:xfrm>
          <a:prstGeom prst="ellipse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26187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08760" y="116128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</a:rPr>
              <a:t>Download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429000" y="1197864"/>
            <a:ext cx="7452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KNHANES via KDCA; NHANES via CDC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78992" y="1664208"/>
            <a:ext cx="0" cy="347472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22960" y="2011680"/>
            <a:ext cx="502920" cy="502920"/>
          </a:xfrm>
          <a:prstGeom prst="ellipse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213055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08760" y="20299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</a:rPr>
              <a:t>Harmonize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29000" y="2066544"/>
            <a:ext cx="7452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Map stress, noise, tinnitus, audiometry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78992" y="2532888"/>
            <a:ext cx="0" cy="347472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22960" y="2880360"/>
            <a:ext cx="502920" cy="502920"/>
          </a:xfrm>
          <a:prstGeom prst="ellipse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299923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508760" y="28986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</a:rPr>
              <a:t>Estimate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429000" y="2935224"/>
            <a:ext cx="7452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Survey-weighted association models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078992" y="3401568"/>
            <a:ext cx="0" cy="347472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22960" y="3749040"/>
            <a:ext cx="502920" cy="502920"/>
          </a:xfrm>
          <a:prstGeom prst="ellipse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" y="386791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508760" y="37673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</a:rPr>
              <a:t>Validate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429000" y="3803904"/>
            <a:ext cx="7452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Train on KNHANES, test on NHANES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078992" y="4270248"/>
            <a:ext cx="0" cy="347472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22960" y="4617720"/>
            <a:ext cx="502920" cy="502920"/>
          </a:xfrm>
          <a:prstGeom prst="ellipse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7552" y="473659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508760" y="46360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</a:rPr>
              <a:t>Extend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429000" y="4672584"/>
            <a:ext cx="7452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Ajou clinical data + clinician-verified LLM extraction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Open medical AI role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955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MedGemma or similar model as a research accelerator, not a clinician replacement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STARS | AJA-targeted public-data manuscript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77240" y="1097280"/>
            <a:ext cx="1828800" cy="411480"/>
          </a:xfrm>
          <a:prstGeom prst="roundRect">
            <a:avLst>
              <a:gd name="adj" fmla="val 11111"/>
            </a:avLst>
          </a:prstGeom>
          <a:solidFill>
            <a:srgbClr val="59A14F"/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216152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Allowed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88920" y="1170432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Schema extraction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7240" y="1847088"/>
            <a:ext cx="1828800" cy="411480"/>
          </a:xfrm>
          <a:prstGeom prst="roundRect">
            <a:avLst>
              <a:gd name="adj" fmla="val 11111"/>
            </a:avLst>
          </a:prstGeom>
          <a:solidFill>
            <a:srgbClr val="59A14F"/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965960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Allowed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88920" y="1920240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Evidence-linked explanations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77240" y="2596896"/>
            <a:ext cx="1828800" cy="411480"/>
          </a:xfrm>
          <a:prstGeom prst="roundRect">
            <a:avLst>
              <a:gd name="adj" fmla="val 11111"/>
            </a:avLst>
          </a:prstGeom>
          <a:solidFill>
            <a:srgbClr val="59A14F"/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2715768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Allowed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88920" y="2670048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Missing data detection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77240" y="3346704"/>
            <a:ext cx="1828800" cy="411480"/>
          </a:xfrm>
          <a:prstGeom prst="roundRect">
            <a:avLst>
              <a:gd name="adj" fmla="val 11111"/>
            </a:avLst>
          </a:prstGeom>
          <a:solidFill>
            <a:srgbClr val="E15759"/>
          </a:solidFill>
          <a:ln w="12700">
            <a:solidFill>
              <a:srgbClr val="E1575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3465576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Blocked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88920" y="3419856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Diagnosis or steroid advice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77240" y="4096512"/>
            <a:ext cx="1828800" cy="411480"/>
          </a:xfrm>
          <a:prstGeom prst="roundRect">
            <a:avLst>
              <a:gd name="adj" fmla="val 11111"/>
            </a:avLst>
          </a:prstGeom>
          <a:solidFill>
            <a:srgbClr val="E15759"/>
          </a:solidFill>
          <a:ln w="12700">
            <a:solidFill>
              <a:srgbClr val="E1575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4215384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Blocked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88920" y="4169664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Suppressing red flags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498080" y="1188720"/>
            <a:ext cx="3154680" cy="3291840"/>
          </a:xfrm>
          <a:prstGeom prst="roundRect">
            <a:avLst>
              <a:gd name="adj" fmla="val 2319"/>
            </a:avLst>
          </a:prstGeom>
          <a:solidFill>
            <a:srgbClr val="F4F7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18120" y="15087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A5F"/>
                </a:solidFill>
              </a:rPr>
              <a:t>Trust layer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818120" y="2057400"/>
            <a:ext cx="256032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clinician verification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fixed schema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versioned prompts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external validation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fairness and error review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Expected contributions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955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Higher credibility, robustness, and usefulness for the audiology community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STARS | AJA-targeted public-data manuscript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822960" y="1234440"/>
            <a:ext cx="466344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234440"/>
            <a:ext cx="146304" cy="1508760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52704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</a:rPr>
              <a:t>1 · Primary finding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1965960"/>
            <a:ext cx="39776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Symptom-vs-threshold dissociation for perceived stress (tinnitus OR 1.42; threshold ns); no causal claim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1234440"/>
            <a:ext cx="466344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234440"/>
            <a:ext cx="146304" cy="1508760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52704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</a:rPr>
              <a:t>2 · Open reproducible scaffold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37960" y="1965960"/>
            <a:ext cx="39776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Mappings, unit-tested design-based estimators, model cards, safety tests — every number regenerable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3657600"/>
            <a:ext cx="466344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3657600"/>
            <a:ext cx="146304" cy="1508760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395020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</a:rPr>
              <a:t>3 · Cross-national validation (prospective)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4389120"/>
            <a:ext cx="39776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KNHANES→NHANES: calibration, recalibration, common support, fairness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17920" y="3657600"/>
            <a:ext cx="466344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3657600"/>
            <a:ext cx="146304" cy="1508760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395020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</a:rPr>
              <a:t>4 · Governed, safe AI (prospective)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37960" y="4389120"/>
            <a:ext cx="39776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Clinician-verified extraction + deterministic red-flag override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Collaboration plan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955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Public-data manuscript now; clinical validation next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STARS | AJA-targeted public-data manuscript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2148840" cy="1005840"/>
          </a:xfrm>
          <a:prstGeom prst="chevron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217627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Public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analysis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017520" y="1920240"/>
            <a:ext cx="2148840" cy="1005840"/>
          </a:xfrm>
          <a:prstGeom prst="chevron">
            <a:avLst/>
          </a:prstGeom>
          <a:solidFill>
            <a:srgbClr val="59A14F"/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01568" y="217627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Clinical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cohort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257800" y="1920240"/>
            <a:ext cx="2148840" cy="1005840"/>
          </a:xfrm>
          <a:prstGeom prst="chevron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23560" y="217627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Model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validation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498080" y="1920240"/>
            <a:ext cx="2148840" cy="1005840"/>
          </a:xfrm>
          <a:prstGeom prst="chevron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82128" y="217627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AJA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submission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4114800"/>
            <a:ext cx="1014984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</a:rPr>
              <a:t>Ask from collaborators: validate variables, refine audiology outcomes, identify feasible clinical data fields, and review safety constraints before IRB submission.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Aims and prespecified hypotheses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955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Falsifiable claims frozen before 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STARS | AJA-targeted public-data manuscript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77240" y="1188720"/>
            <a:ext cx="1234440" cy="868680"/>
          </a:xfrm>
          <a:prstGeom prst="roundRect">
            <a:avLst>
              <a:gd name="adj" fmla="val 6316"/>
            </a:avLst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4813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240280" y="12984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</a:rPr>
              <a:t>Association — SUPPORTED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240280" y="1645920"/>
            <a:ext cx="87782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</a:rPr>
              <a:t>Perceived stress is associated with tinnitus after adjustment (OR 1.42); the stress–threshold association attenuates to non-significance (OR 1.18) once age and noise are controlled.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2331720"/>
            <a:ext cx="1234440" cy="868680"/>
          </a:xfrm>
          <a:prstGeom prst="roundRect">
            <a:avLst>
              <a:gd name="adj" fmla="val 6316"/>
            </a:avLst>
          </a:prstGeom>
          <a:solidFill>
            <a:srgbClr val="59A14F"/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6243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240280" y="24414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</a:rPr>
              <a:t>Transportability (prospective)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240280" y="2788920"/>
            <a:ext cx="87782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</a:rPr>
              <a:t>KNHANES models retain discrimination in NHANES; calibration is restored by recalibration (tinnitus &gt; hearing-loss model).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7240" y="3474720"/>
            <a:ext cx="1234440" cy="868680"/>
          </a:xfrm>
          <a:prstGeom prst="roundRect">
            <a:avLst>
              <a:gd name="adj" fmla="val 6316"/>
            </a:avLst>
          </a:prstGeom>
          <a:solidFill>
            <a:srgbClr val="E15759"/>
          </a:solidFill>
          <a:ln w="12700">
            <a:solidFill>
              <a:srgbClr val="E1575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7673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240280" y="35844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</a:rPr>
              <a:t>Safe, explainable AI (prospective)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240280" y="3931920"/>
            <a:ext cx="87782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</a:rPr>
              <a:t>Schema-constrained extraction reaches high clinician-verified accuracy; the red-flag layer achieves near-complete recall.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77240" y="4617720"/>
            <a:ext cx="1234440" cy="868680"/>
          </a:xfrm>
          <a:prstGeom prst="roundRect">
            <a:avLst>
              <a:gd name="adj" fmla="val 6316"/>
            </a:avLst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9103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240280" y="47274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</a:rPr>
              <a:t>Shared benefit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240280" y="5074920"/>
            <a:ext cx="87782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</a:rPr>
              <a:t>Open code, data dictionary, model cards, prompts, and a synthetic-data path lower the barrier for global reuse.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Rigor, reporting, and the treatment window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955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What makes the framework credible and safe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STARS | AJA-targeted public-data manuscript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822960" y="1234440"/>
            <a:ext cx="466344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234440"/>
            <a:ext cx="146304" cy="1554480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490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</a:rPr>
              <a:t>Prespecified &amp; DAG-based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1929384"/>
            <a:ext cx="41148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Fixed cycles, ages, endpoints, metrics; minimal sufficient adjustment set; mediators (mood/sleep) modeled separately.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234440"/>
            <a:ext cx="466344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234440"/>
            <a:ext cx="146304" cy="1554480"/>
          </a:xfrm>
          <a:prstGeom prst="rect">
            <a:avLst/>
          </a:prstGeom>
          <a:solidFill>
            <a:srgbClr val="59A14F"/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490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</a:rPr>
              <a:t>Beyond AUROC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37960" y="1929384"/>
            <a:ext cx="41148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Calibration-in-the-large &amp; slope (pre/post recalibration), common support, decision curves; SHAP caveated.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3657600"/>
            <a:ext cx="466344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3657600"/>
            <a:ext cx="146304" cy="1554480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39136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</a:rPr>
              <a:t>Research-use only + fairness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4352544"/>
            <a:ext cx="41148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Declared model intended use (not screening/diagnosis); subgroups incl. SES &amp; race/ethnicity.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0" y="3657600"/>
            <a:ext cx="466344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3657600"/>
            <a:ext cx="146304" cy="1554480"/>
          </a:xfrm>
          <a:prstGeom prst="rect">
            <a:avLst/>
          </a:prstGeom>
          <a:solidFill>
            <a:srgbClr val="E15759"/>
          </a:solidFill>
          <a:ln w="12700">
            <a:solidFill>
              <a:srgbClr val="E1575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39136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</a:rPr>
              <a:t>Golden-window safety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37960" y="4352544"/>
            <a:ext cx="41148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Deterministic red-flag override; dual-expert vignettes, sensitivity with 95% CI — finite-set 1.0 ≠ zero-miss guarantee.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8229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STARS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22960" y="1600200"/>
            <a:ext cx="987552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Open, reproducible audiology research for tinnitus, hearing loss, stress-related exposures, and safe AI-assisted clinical learning.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44348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DEEFF"/>
                </a:solidFill>
              </a:rPr>
              <a:t>Now: the primary KNHANES finding is reported and fully reproducible. Next: AJA submission; prospective cross-national validation, AI extraction, and clinical extension.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56235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EFF"/>
                </a:solidFill>
              </a:rPr>
              <a:t>Geunsik Lim · leemgs@g.skku.edu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DEEFF"/>
                </a:solidFill>
              </a:rPr>
              <a:t>Hyun Jo · joehyun@ajou.ac.kr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Sungkyunkwan University / Ajou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STARS</dc:title>
  <dc:subject>STARS AJA study</dc:subject>
  <dc:creator>Geunsik Lim and Hyun Jo</dc:creator>
  <cp:lastModifiedBy>Geunsik Lim and Hyun Jo</cp:lastModifiedBy>
  <cp:revision>1</cp:revision>
  <dcterms:created xsi:type="dcterms:W3CDTF">2026-08-03T10:59:12Z</dcterms:created>
  <dcterms:modified xsi:type="dcterms:W3CDTF">2026-08-03T10:59:12Z</dcterms:modified>
</cp:coreProperties>
</file>